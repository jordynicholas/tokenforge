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5394960"/>
            <a:ext cx="12027103" cy="1463040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BOARD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TokenForge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Coding FinOps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5D0D8"/>
                </a:solidFill>
                <a:latin typeface="Calibri"/>
                <a:ea typeface="Calibri"/>
                <a:cs typeface="Calibri"/>
              </a:rPr>
              <a:t>Detect high-cost context  →  Fix with provider policy packs  →  Prove $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For CEO · CTO · Presidents · Global Directors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Category ownership: stop bleeding tokens on metered coding 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01  ·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Enterprises buy AI coding credits — then burn them on waste.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Low-value context inflates Chat/Agent workflows. Managers lack a loop to see → fix → prove savings.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6060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73152" cy="2377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2606040" cy="2377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32888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Inactive giant tabs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26080"/>
            <a:ext cx="2240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Open lockfiles, bundles, and stale editors ride into every Agent turn.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8" y="2331720"/>
            <a:ext cx="26060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2331720"/>
            <a:ext cx="73152" cy="2377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7288" y="2331720"/>
            <a:ext cx="2606040" cy="2377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532888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Fat always-on instructions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926080"/>
            <a:ext cx="2240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Bloated AGENTS / rules files tax every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2331720"/>
            <a:ext cx="26060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2331720"/>
            <a:ext cx="73152" cy="2377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2331720"/>
            <a:ext cx="2606040" cy="2377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532888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Missing exclusions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2926080"/>
            <a:ext cx="2240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No governed pack to keep generated junk out of context.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1704" y="2331720"/>
            <a:ext cx="26060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1704" y="2331720"/>
            <a:ext cx="73152" cy="23774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331720"/>
            <a:ext cx="2606040" cy="23774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17736" y="2532888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No buyer 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2926080"/>
            <a:ext cx="2240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Spend shows up on invoices — waste does not show up as a finding.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Confidential board brief  · 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02  ·  COMPETITION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The market has pieces of the answer — not the control loop.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789920" cy="438912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6479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7647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Optimises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76479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Gap vs TokenForge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30552"/>
            <a:ext cx="10789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Agent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33172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Continuity for one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331720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Does not cut billable waste or prove $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07792"/>
            <a:ext cx="1078992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089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Cloud FinOps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10896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Infra / SaaS cloud spend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3108960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Blind to IDE &amp; repo AI-context waste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685032"/>
            <a:ext cx="10789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886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LLM observability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88620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API traces &amp; prompt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886200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Not coding-agent tab + exclusion hygiene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462272"/>
            <a:ext cx="10789920" cy="77724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6634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Vendor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466344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Show Copilot / Cursor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4663440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Report spend — do not Detect → 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Confidential board brief  · 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03  ·  COMPETITIVE 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Memory helps the agent. We stop the organisation bleeding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521208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212080" cy="502920"/>
          </a:xfrm>
          <a:prstGeom prst="rect">
            <a:avLst/>
          </a:prstGeom>
          <a:solidFill>
            <a:srgbClr val="5B67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Auto Memory / continuity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4663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Remembers useful project knowledge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Enriches one agent’s continuity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Metric: memory quality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91640"/>
            <a:ext cx="521208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5212080" cy="5029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TokenForge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77440"/>
            <a:ext cx="4663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Stops paying for useless context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Cuts billable waste for the enterprise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Metric: tokens / credits / $ avoided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84C49"/>
                </a:solidFill>
                <a:latin typeface="Calibri"/>
                <a:ea typeface="Calibri"/>
                <a:cs typeface="Calibri"/>
              </a:rPr>
              <a:t>Unique wedge: Token Risk → provider policy pack → global + per-team $ proof across architectures.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Confidential board brief  · 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04  ·  WHO IT’S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One product. Three relationships.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52044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73152" cy="31089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520440" cy="31089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38528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Buyer  ·  Eng Manager / FinOps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31546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ROI, team waste, projected $, BU roll-up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737360"/>
            <a:ext cx="352044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37360"/>
            <a:ext cx="73152" cy="31089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737360"/>
            <a:ext cx="3520440" cy="31089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938528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User  ·  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331720"/>
            <a:ext cx="31546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IDE risk signal + Keep / Filter + one-click repo fix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737360"/>
            <a:ext cx="352044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737360"/>
            <a:ext cx="73152" cy="31089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737360"/>
            <a:ext cx="3520440" cy="31089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Rollout  ·  Platform / DevEx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2331720"/>
            <a:ext cx="31546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CLI adapters + org-pack at estate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Confidential board brief  · 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05  ·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Detect → Fix → 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52044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3520440" cy="8229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01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Score risky tabs &amp; paths.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Provider-agnostic.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Hybrid LLM optional.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108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737360"/>
            <a:ext cx="352044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37360"/>
            <a:ext cx="3520440" cy="8229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87451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02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8892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Lean instructions +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exclusions via adapters.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Org-pack for multi-repo.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108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737360"/>
            <a:ext cx="352044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737360"/>
            <a:ext cx="3520440" cy="822960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7451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03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78892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Global BU dashboard +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per-team / per-repo views.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Architecture-aware.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Confidential board brief  · 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06  ·  LIVE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Five minutes. Three surfaces. One loop.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260604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73152" cy="32004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2606040" cy="320040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38528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1.  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22402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Context Guard on noisy tabs
Filter lockfile → risk drops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8" y="1737360"/>
            <a:ext cx="260604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7288" y="1737360"/>
            <a:ext cx="73152" cy="32004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1737360"/>
            <a:ext cx="2606040" cy="320040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1938528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2.  Fix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2402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CLI scan → apply policy pack
(or org-pack for the estate)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4496" y="1737360"/>
            <a:ext cx="260604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4496" y="1737360"/>
            <a:ext cx="73152" cy="32004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1737360"/>
            <a:ext cx="2606040" cy="320040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938528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3.  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331720"/>
            <a:ext cx="22402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Global Overview → team drill-down
Architecture mix + usage import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1704" y="1737360"/>
            <a:ext cx="260604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61704" y="1737360"/>
            <a:ext cx="73152" cy="32004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1704" y="1737360"/>
            <a:ext cx="2606040" cy="320040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7736" y="1938528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4. 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2331720"/>
            <a:ext cx="22402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Assumptions → ~30% scenario
Memory ≠ FinOps sound bite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Confidential board brief  · 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07  · 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What we claim — and what we refuse to claim.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53492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73152" cy="1188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5349240" cy="1188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We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94560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Advise, filter recommended context, write exclusion / instruction packs, prove with transparent assumptions.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00200"/>
            <a:ext cx="53492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600200"/>
            <a:ext cx="73152" cy="1188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600200"/>
            <a:ext cx="5349240" cy="1188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801368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We don’t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194560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Intercept any vendor’s private Chat/Agent pipeline.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26080"/>
            <a:ext cx="53492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926080"/>
            <a:ext cx="73152" cy="1188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926080"/>
            <a:ext cx="5349240" cy="1188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127248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Default scan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520440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Heuristic only — no AI. Hybrid enrich is explicit and bounded.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2926080"/>
            <a:ext cx="53492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926080"/>
            <a:ext cx="73152" cy="1188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2926080"/>
            <a:ext cx="5349240" cy="1188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3127248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~30%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520440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Scenario math on demo seed (exclusion × waste applicability) — not a universal SLA.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51960"/>
            <a:ext cx="53492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251960"/>
            <a:ext cx="73152" cy="1188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251960"/>
            <a:ext cx="5349240" cy="1188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453128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Usage import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846320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Demo / file metrics today. Live vendor billing sync is next — not this demo.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251960"/>
            <a:ext cx="53492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4251960"/>
            <a:ext cx="73152" cy="1188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4251960"/>
            <a:ext cx="5349240" cy="1188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8232" y="4453128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Metering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4846320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Chat / Agent / AI credits. Not unlimited inline completions.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Confidential board brief  · 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08  ·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Demo-complete today. Org-scale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5349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73152" cy="3474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349240" cy="3474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92808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Shipped for board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86000"/>
            <a:ext cx="49834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Per-team + global Prove · architecture tags · usage import · org-pack · Cursor/Claude adapters · advisory levers (do not lead).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5349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73152" cy="347472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691640"/>
            <a:ext cx="5349240" cy="3474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892808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Next proof for a BU 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286000"/>
            <a:ext cx="49834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Live billing sync per provider · remote org exclusion apply APIs · keep Detect → Fix → Prove as the spine.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Confidential board brief  · 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Own the category: AI Coding FinOps.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5D0D8"/>
                </a:solidFill>
                <a:latin typeface="Calibri"/>
                <a:ea typeface="Calibri"/>
                <a:cs typeface="Calibri"/>
              </a:rPr>
              <a:t>Next proof: pilot on one business unit.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0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They help the agent remember.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 help the organisation stop bleeding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TokenForge  ·  Detect → Fix → Prove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