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" y="5440680"/>
            <a:ext cx="12027103" cy="1417320"/>
          </a:xfrm>
          <a:prstGeom prst="rect">
            <a:avLst/>
          </a:prstGeom>
          <a:solidFill>
            <a:srgbClr val="084C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B6E6A"/>
                </a:solidFill>
                <a:latin typeface="Calibri"/>
                <a:ea typeface="Calibri"/>
                <a:cs typeface="Calibri"/>
              </a:rPr>
              <a:t>HACKATHON PITCH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TokenForge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718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AI Coding FinOps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C5D0D8"/>
                </a:solidFill>
                <a:latin typeface="Calibri"/>
                <a:ea typeface="Calibri"/>
                <a:cs typeface="Calibri"/>
              </a:rPr>
              <a:t>Detect high-cost context  →  Fix with provider policy packs  →  Prove $ saved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71500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Detect → Fix → Prove for metered AI coding agents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B7E0DC"/>
                </a:solidFill>
                <a:latin typeface="Calibri"/>
                <a:ea typeface="Calibri"/>
                <a:cs typeface="Calibri"/>
              </a:rPr>
              <a:t>Stop bleeding tokens on low-value context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E6A"/>
                </a:solidFill>
                <a:latin typeface="Calibri"/>
                <a:ea typeface="Calibri"/>
                <a:cs typeface="Calibri"/>
              </a:rPr>
              <a:t>01  · 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Teams buy AI coding credits — then burn them on waste.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Low-value context inflates Chat/Agent workflows. There’s no clear loop to see → fix → prove savings.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03120"/>
            <a:ext cx="2606040" cy="2606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03120"/>
            <a:ext cx="73152" cy="260604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03120"/>
            <a:ext cx="2606040" cy="2606040"/>
          </a:xfrm>
          <a:prstGeom prst="rect">
            <a:avLst/>
          </a:prstGeom>
          <a:noFill/>
          <a:ln w="12700">
            <a:solidFill>
              <a:srgbClr val="D8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267712"/>
            <a:ext cx="2203704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Inactive giant tabs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843784"/>
            <a:ext cx="2203704" cy="1719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Lockfiles, bundles, and stale editors ride into every Agent turn.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47288" y="2103120"/>
            <a:ext cx="2606040" cy="2606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47288" y="2103120"/>
            <a:ext cx="73152" cy="260604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47288" y="2103120"/>
            <a:ext cx="2606040" cy="2606040"/>
          </a:xfrm>
          <a:prstGeom prst="rect">
            <a:avLst/>
          </a:prstGeom>
          <a:noFill/>
          <a:ln w="12700">
            <a:solidFill>
              <a:srgbClr val="D8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48456" y="2267712"/>
            <a:ext cx="2203704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Fat always-on instructions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48456" y="2843784"/>
            <a:ext cx="2203704" cy="1719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Bloated AGENTS / rules files tax every session.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54496" y="2103120"/>
            <a:ext cx="2606040" cy="2606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54496" y="2103120"/>
            <a:ext cx="73152" cy="260604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54496" y="2103120"/>
            <a:ext cx="2606040" cy="2606040"/>
          </a:xfrm>
          <a:prstGeom prst="rect">
            <a:avLst/>
          </a:prstGeom>
          <a:noFill/>
          <a:ln w="12700">
            <a:solidFill>
              <a:srgbClr val="D8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55664" y="2267712"/>
            <a:ext cx="2203704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Missing exclusions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5664" y="2843784"/>
            <a:ext cx="2203704" cy="1719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No governed pack to keep generated junk out of context.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61704" y="2103120"/>
            <a:ext cx="2606040" cy="2606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61704" y="2103120"/>
            <a:ext cx="73152" cy="260604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61704" y="2103120"/>
            <a:ext cx="2606040" cy="2606040"/>
          </a:xfrm>
          <a:prstGeom prst="rect">
            <a:avLst/>
          </a:prstGeom>
          <a:noFill/>
          <a:ln w="12700">
            <a:solidFill>
              <a:srgbClr val="D8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62872" y="2267712"/>
            <a:ext cx="2203704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No savings proof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62872" y="2843784"/>
            <a:ext cx="2203704" cy="1719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Spend shows on invoices — waste never shows as a finding.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922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TokenForge  ·  AI Coding FinOps  ·  Hackathon pitch  ·  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E6A"/>
                </a:solidFill>
                <a:latin typeface="Calibri"/>
                <a:ea typeface="Calibri"/>
                <a:cs typeface="Calibri"/>
              </a:rPr>
              <a:t>02  ·  COMPETITION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The market has pieces of the answer — not the control loop.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10789920" cy="411480"/>
          </a:xfrm>
          <a:prstGeom prst="rect">
            <a:avLst/>
          </a:prstGeom>
          <a:solidFill>
            <a:srgbClr val="084C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19072"/>
            <a:ext cx="2331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Category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719072"/>
            <a:ext cx="3611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Optimises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78040" y="1719072"/>
            <a:ext cx="4160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Gap vs TokenForge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57400"/>
            <a:ext cx="1078992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258568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Agent memory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2258568"/>
            <a:ext cx="3611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Continuity for one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78040" y="2258568"/>
            <a:ext cx="4160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Does not cut billable waste or prove $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770632"/>
            <a:ext cx="10789920" cy="71323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97180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Cloud FinOps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2971800"/>
            <a:ext cx="3611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Infra / SaaS cloud spend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78040" y="2971800"/>
            <a:ext cx="4160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Blind to IDE &amp; repo AI-context waste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483864"/>
            <a:ext cx="1078992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685032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LLM observability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37560" y="3685032"/>
            <a:ext cx="3611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API traces &amp; prompt $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78040" y="3685032"/>
            <a:ext cx="4160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Not coding-agent tab + exclusion hygiene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197096"/>
            <a:ext cx="10789920" cy="713232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398264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Vendor dashboards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37560" y="4398264"/>
            <a:ext cx="3611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Show Copilot / Cursor spend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4398264"/>
            <a:ext cx="4160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Report spend — do not Detect → Fix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4922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TokenForge  ·  AI Coding FinOps  ·  Hackathon pitch  ·  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E6A"/>
                </a:solidFill>
                <a:latin typeface="Calibri"/>
                <a:ea typeface="Calibri"/>
                <a:cs typeface="Calibri"/>
              </a:rPr>
              <a:t>03  ·  COMPETITIVE DIFFERENTIATION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Memory helps the agent. We stop the organisation bleeding tokens.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5212080" cy="3063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45920"/>
            <a:ext cx="5212080" cy="502920"/>
          </a:xfrm>
          <a:prstGeom prst="rect">
            <a:avLst/>
          </a:prstGeom>
          <a:solidFill>
            <a:srgbClr val="5B67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755648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Auto Memory / continuity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377440"/>
            <a:ext cx="4754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Remembers useful project knowledge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Enriches one agent’s continuity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Metric: memory quality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645920"/>
            <a:ext cx="5212080" cy="3063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645920"/>
            <a:ext cx="5212080" cy="50292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65392" y="1755648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TokenForge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5392" y="2377440"/>
            <a:ext cx="4754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Stops paying for useless context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Cuts billable waste for the team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Metric: tokens / credits / $ avoided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9834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84C49"/>
                </a:solidFill>
                <a:latin typeface="Calibri"/>
                <a:ea typeface="Calibri"/>
                <a:cs typeface="Calibri"/>
              </a:rPr>
              <a:t>Unique wedge: Token Risk → provider policy pack → global + per-team $ proof.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922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TokenForge  ·  AI Coding FinOps  ·  Hackathon pitch  ·  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E6A"/>
                </a:solidFill>
                <a:latin typeface="Calibri"/>
                <a:ea typeface="Calibri"/>
                <a:cs typeface="Calibri"/>
              </a:rPr>
              <a:t>04  ·  WHO IT’S FOR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One product. Three relationships.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91640"/>
            <a:ext cx="3520440" cy="3291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91640"/>
            <a:ext cx="73152" cy="329184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3520440" cy="3291840"/>
          </a:xfrm>
          <a:prstGeom prst="rect">
            <a:avLst/>
          </a:prstGeom>
          <a:noFill/>
          <a:ln w="12700">
            <a:solidFill>
              <a:srgbClr val="D8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1856232"/>
            <a:ext cx="3118104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Buyer: Eng Manager / FinOps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432304"/>
            <a:ext cx="3118104" cy="2404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ROI, team waste, projected $, BU roll-up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1691640"/>
            <a:ext cx="3520440" cy="3291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1691640"/>
            <a:ext cx="73152" cy="329184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691640"/>
            <a:ext cx="3520440" cy="3291840"/>
          </a:xfrm>
          <a:prstGeom prst="rect">
            <a:avLst/>
          </a:prstGeom>
          <a:noFill/>
          <a:ln w="12700">
            <a:solidFill>
              <a:srgbClr val="D8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0288" y="1856232"/>
            <a:ext cx="3118104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User: Developer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2432304"/>
            <a:ext cx="3118104" cy="2404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IDE risk signal + Keep / Filter + one-click repo fix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691640"/>
            <a:ext cx="3520440" cy="3291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1691640"/>
            <a:ext cx="73152" cy="329184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1691640"/>
            <a:ext cx="3520440" cy="3291840"/>
          </a:xfrm>
          <a:prstGeom prst="rect">
            <a:avLst/>
          </a:prstGeom>
          <a:noFill/>
          <a:ln w="12700">
            <a:solidFill>
              <a:srgbClr val="D8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9328" y="1856232"/>
            <a:ext cx="3118104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Rollout: Platform / DevEx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9328" y="2432304"/>
            <a:ext cx="3118104" cy="2404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CLI adapters + org-pack at estate scale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922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TokenForge  ·  AI Coding FinOps  ·  Hackathon pitch  ·  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E6A"/>
                </a:solidFill>
                <a:latin typeface="Calibri"/>
                <a:ea typeface="Calibri"/>
                <a:cs typeface="Calibri"/>
              </a:rPr>
              <a:t>05  · 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Detect → Fix → Prove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91640"/>
            <a:ext cx="352044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91640"/>
            <a:ext cx="3520440" cy="96012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819656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B7E0DC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075688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Detect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880360"/>
            <a:ext cx="306324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Score risky tabs &amp; paths.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Provider-agnostic.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Hybrid LLM optional.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1691640"/>
            <a:ext cx="352044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1691640"/>
            <a:ext cx="3520440" cy="96012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5152" y="1819656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B7E0DC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2075688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Fix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2880360"/>
            <a:ext cx="306324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Lean instructions +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exclusions via adapters.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Org-pack for multi-repo.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691640"/>
            <a:ext cx="352044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1691640"/>
            <a:ext cx="3520440" cy="960120"/>
          </a:xfrm>
          <a:prstGeom prst="rect">
            <a:avLst/>
          </a:prstGeom>
          <a:solidFill>
            <a:srgbClr val="084C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94192" y="1819656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B7E0DC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2075688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94192" y="2880360"/>
            <a:ext cx="306324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Global BU dashboard +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per-team / per-repo views.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Architecture-aware.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922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TokenForge  ·  AI Coding FinOps  ·  Hackathon pitch  ·  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E6A"/>
                </a:solidFill>
                <a:latin typeface="Calibri"/>
                <a:ea typeface="Calibri"/>
                <a:cs typeface="Calibri"/>
              </a:rPr>
              <a:t>06  ·  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Five minutes. Three surfaces. One loop.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91640"/>
            <a:ext cx="260604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91640"/>
            <a:ext cx="73152" cy="338328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2606040" cy="3383280"/>
          </a:xfrm>
          <a:prstGeom prst="rect">
            <a:avLst/>
          </a:prstGeom>
          <a:noFill/>
          <a:ln w="12700">
            <a:solidFill>
              <a:srgbClr val="D8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1856232"/>
            <a:ext cx="2203704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1. Detect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432304"/>
            <a:ext cx="2203704" cy="2496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Context Guard on noisy tabs.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Filter lockfile → risk drops.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47288" y="1691640"/>
            <a:ext cx="260604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47288" y="1691640"/>
            <a:ext cx="73152" cy="338328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47288" y="1691640"/>
            <a:ext cx="2606040" cy="3383280"/>
          </a:xfrm>
          <a:prstGeom prst="rect">
            <a:avLst/>
          </a:prstGeom>
          <a:noFill/>
          <a:ln w="12700">
            <a:solidFill>
              <a:srgbClr val="D8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48456" y="1856232"/>
            <a:ext cx="2203704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2. Fix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48456" y="2432304"/>
            <a:ext cx="2203704" cy="2496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CLI scan → apply policy pack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(or org-pack for the estate).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54496" y="1691640"/>
            <a:ext cx="260604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54496" y="1691640"/>
            <a:ext cx="73152" cy="338328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54496" y="1691640"/>
            <a:ext cx="2606040" cy="3383280"/>
          </a:xfrm>
          <a:prstGeom prst="rect">
            <a:avLst/>
          </a:prstGeom>
          <a:noFill/>
          <a:ln w="12700">
            <a:solidFill>
              <a:srgbClr val="D8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55664" y="1856232"/>
            <a:ext cx="2203704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3. Prove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4" y="2432304"/>
            <a:ext cx="2203704" cy="2496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Global Overview → team drill-down.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Architecture mix + usage import.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61704" y="1691640"/>
            <a:ext cx="260604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61704" y="1691640"/>
            <a:ext cx="73152" cy="338328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61704" y="1691640"/>
            <a:ext cx="2606040" cy="3383280"/>
          </a:xfrm>
          <a:prstGeom prst="rect">
            <a:avLst/>
          </a:prstGeom>
          <a:noFill/>
          <a:ln w="12700">
            <a:solidFill>
              <a:srgbClr val="D8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62872" y="1856232"/>
            <a:ext cx="2203704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4. Close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62872" y="2432304"/>
            <a:ext cx="2203704" cy="2496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Assumptions → ~30% scenario.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Memory ≠ FinOps sound bite.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4922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TokenForge  ·  AI Coding FinOps  ·  Hackathon pitch  ·  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E6A"/>
                </a:solidFill>
                <a:latin typeface="Calibri"/>
                <a:ea typeface="Calibri"/>
                <a:cs typeface="Calibri"/>
              </a:rPr>
              <a:t>07  ·  HONESTY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What we claim — and what we refuse to claim.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5349240" cy="1280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73152" cy="128016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554480"/>
            <a:ext cx="5349240" cy="1280160"/>
          </a:xfrm>
          <a:prstGeom prst="rect">
            <a:avLst/>
          </a:prstGeom>
          <a:noFill/>
          <a:ln w="12700">
            <a:solidFill>
              <a:srgbClr val="D8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1719072"/>
            <a:ext cx="4946904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We 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295144"/>
            <a:ext cx="494690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Advise, filter recommended context, write exclusion / instruction packs, prove with transparent assumptions.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554480"/>
            <a:ext cx="5349240" cy="1280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1554480"/>
            <a:ext cx="73152" cy="128016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554480"/>
            <a:ext cx="5349240" cy="1280160"/>
          </a:xfrm>
          <a:prstGeom prst="rect">
            <a:avLst/>
          </a:prstGeom>
          <a:noFill/>
          <a:ln w="12700">
            <a:solidFill>
              <a:srgbClr val="D8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368" y="1719072"/>
            <a:ext cx="4946904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We don’t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3368" y="2295144"/>
            <a:ext cx="494690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Intercept any vendor’s private Chat/Agent pipeline.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5349240" cy="1280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2971800"/>
            <a:ext cx="73152" cy="128016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2971800"/>
            <a:ext cx="5349240" cy="1280160"/>
          </a:xfrm>
          <a:prstGeom prst="rect">
            <a:avLst/>
          </a:prstGeom>
          <a:noFill/>
          <a:ln w="12700">
            <a:solidFill>
              <a:srgbClr val="D8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3136392"/>
            <a:ext cx="4946904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Default scan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12464"/>
            <a:ext cx="494690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Heuristic only — no AI. Hybrid enrich is explicit and bounded.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2200" y="2971800"/>
            <a:ext cx="5349240" cy="1280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2971800"/>
            <a:ext cx="73152" cy="128016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2971800"/>
            <a:ext cx="5349240" cy="1280160"/>
          </a:xfrm>
          <a:prstGeom prst="rect">
            <a:avLst/>
          </a:prstGeom>
          <a:noFill/>
          <a:ln w="12700">
            <a:solidFill>
              <a:srgbClr val="D8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3368" y="3136392"/>
            <a:ext cx="4946904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~30%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3368" y="3712464"/>
            <a:ext cx="494690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Scenario math on the demo seed — not a universal SLA.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389120"/>
            <a:ext cx="5349240" cy="1280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389120"/>
            <a:ext cx="73152" cy="128016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4389120"/>
            <a:ext cx="5349240" cy="1280160"/>
          </a:xfrm>
          <a:prstGeom prst="rect">
            <a:avLst/>
          </a:prstGeom>
          <a:noFill/>
          <a:ln w="12700">
            <a:solidFill>
              <a:srgbClr val="D8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8" y="4553712"/>
            <a:ext cx="4946904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Usage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" y="5129784"/>
            <a:ext cx="494690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Import or live sync into UsageMetrics. Estimate vs bill + cohort note.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2200" y="4389120"/>
            <a:ext cx="5349240" cy="1280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72200" y="4389120"/>
            <a:ext cx="73152" cy="128016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2200" y="4389120"/>
            <a:ext cx="5349240" cy="1280160"/>
          </a:xfrm>
          <a:prstGeom prst="rect">
            <a:avLst/>
          </a:prstGeom>
          <a:noFill/>
          <a:ln w="12700">
            <a:solidFill>
              <a:srgbClr val="D8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73368" y="4553712"/>
            <a:ext cx="4946904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Metering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73368" y="5129784"/>
            <a:ext cx="4946904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Chat / Agent / AI credits — not unlimited completions.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64922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TokenForge  ·  AI Coding FinOps  ·  Hackathon pitch  ·  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B6E6A"/>
                </a:solidFill>
                <a:latin typeface="Calibri"/>
                <a:ea typeface="Calibri"/>
                <a:cs typeface="Calibri"/>
              </a:rPr>
              <a:t>08  · 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Demo-complete today. Org-scale next.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91640"/>
            <a:ext cx="5349240" cy="3474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91640"/>
            <a:ext cx="73152" cy="347472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5349240" cy="3474720"/>
          </a:xfrm>
          <a:prstGeom prst="rect">
            <a:avLst/>
          </a:prstGeom>
          <a:noFill/>
          <a:ln w="12700">
            <a:solidFill>
              <a:srgbClr val="D8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1856232"/>
            <a:ext cx="4946904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Shipped for the hackathon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432304"/>
            <a:ext cx="4946904" cy="2587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Per-team + global Prove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Architecture tags + usage import/sync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Variance board + change markers + cohort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Org-pack + Cursor/Claude adapters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Advisory levers (do not lead the pitch)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691640"/>
            <a:ext cx="5349240" cy="3474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691640"/>
            <a:ext cx="73152" cy="347472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1691640"/>
            <a:ext cx="5349240" cy="3474720"/>
          </a:xfrm>
          <a:prstGeom prst="rect">
            <a:avLst/>
          </a:prstGeom>
          <a:noFill/>
          <a:ln w="12700">
            <a:solidFill>
              <a:srgbClr val="D8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1856232"/>
            <a:ext cx="4946904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41C24"/>
                </a:solidFill>
                <a:latin typeface="Calibri"/>
                <a:ea typeface="Calibri"/>
                <a:cs typeface="Calibri"/>
              </a:rPr>
              <a:t>Next if we keep building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432304"/>
            <a:ext cx="4946904" cy="2587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Remote org exclusion apply APIs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Org pilot pack (scan → apply → prove)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Keep Detect → Fix → Prove as the spine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922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A5766"/>
                </a:solidFill>
                <a:latin typeface="Calibri"/>
                <a:ea typeface="Calibri"/>
                <a:cs typeface="Calibri"/>
              </a:rPr>
              <a:t>TokenForge  ·  AI Coding FinOps  ·  Hackathon pitch  ·  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6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B6E6A"/>
                </a:solidFill>
                <a:latin typeface="Calibri"/>
                <a:ea typeface="Calibri"/>
                <a:cs typeface="Calibri"/>
              </a:rPr>
              <a:t>TAKEAWAY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3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AI Coding FinOps — Detect → Fix → Prove.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C5D0D8"/>
                </a:solidFill>
                <a:latin typeface="Calibri"/>
                <a:ea typeface="Calibri"/>
                <a:cs typeface="Calibri"/>
              </a:rPr>
              <a:t>FinOps for AI coding context waste — works across agents, not one brand.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319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400" b="0">
                <a:solidFill>
                  <a:srgbClr val="B7E0DC"/>
                </a:solidFill>
                <a:latin typeface="Calibri"/>
                <a:ea typeface="Calibri"/>
                <a:cs typeface="Calibri"/>
              </a:rPr>
              <a:t>They help the agent remember.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We help the organisation stop bleeding tokens.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B6E6A"/>
                </a:solidFill>
                <a:latin typeface="Calibri"/>
                <a:ea typeface="Calibri"/>
                <a:cs typeface="Calibri"/>
              </a:rPr>
              <a:t>TokenForge  ·  Hackathon pitch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